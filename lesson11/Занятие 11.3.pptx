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79" r:id="rId3"/>
    <p:sldId id="403" r:id="rId4"/>
    <p:sldId id="409" r:id="rId5"/>
    <p:sldId id="410" r:id="rId6"/>
    <p:sldId id="34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Основы </a:t>
            </a:r>
            <a:r>
              <a:rPr lang="en-US" dirty="0"/>
              <a:t>PL/</a:t>
            </a:r>
            <a:r>
              <a:rPr lang="en-US" dirty="0" err="1"/>
              <a:t>pgSQL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S" dirty="0"/>
              <a:t>0</a:t>
            </a:r>
            <a:r>
              <a:rPr lang="ru-RU" dirty="0"/>
              <a:t>5</a:t>
            </a:r>
            <a:r>
              <a:rPr lang="ru-RS" dirty="0"/>
              <a:t>/</a:t>
            </a:r>
            <a:r>
              <a:rPr lang="ru-RU" dirty="0"/>
              <a:t>11</a:t>
            </a:r>
            <a:r>
              <a:rPr lang="ru-RS" dirty="0"/>
              <a:t>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Ведущий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Создание</a:t>
            </a:r>
            <a:r>
              <a:rPr lang="ru-RU" dirty="0">
                <a:solidFill>
                  <a:srgbClr val="FF0000"/>
                </a:solidFill>
              </a:rPr>
              <a:t> процедур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316099" cy="1110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Процедуры появились в </a:t>
            </a:r>
            <a:r>
              <a:rPr lang="ru-RU" sz="1600" dirty="0" err="1"/>
              <a:t>PostgreSQL</a:t>
            </a:r>
            <a:r>
              <a:rPr lang="ru-RU" sz="1600" dirty="0"/>
              <a:t> 11. В отличие от функций:</a:t>
            </a:r>
          </a:p>
          <a:p>
            <a:r>
              <a:rPr lang="ru-RU" sz="1600" dirty="0"/>
              <a:t>- Не возвращают значения (но могут иметь OUT-параметры)</a:t>
            </a:r>
          </a:p>
          <a:p>
            <a:r>
              <a:rPr lang="ru-RU" sz="1600" dirty="0"/>
              <a:t>- Могут управлять транзакциями внутри себя</a:t>
            </a:r>
          </a:p>
          <a:p>
            <a:r>
              <a:rPr lang="ru-RU" sz="1600" dirty="0"/>
              <a:t>- Вызываются с CALL, а не SELECT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3027422"/>
            <a:ext cx="5745849" cy="347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Синтаксис:</a:t>
            </a:r>
          </a:p>
          <a:p>
            <a:endParaRPr lang="ru-RU" sz="1600" dirty="0"/>
          </a:p>
          <a:p>
            <a:r>
              <a:rPr lang="en-US" sz="1600" dirty="0"/>
              <a:t>CREATE OR REPLACE PROCEDURE </a:t>
            </a:r>
            <a:r>
              <a:rPr lang="ru-RU" sz="1600" dirty="0" err="1"/>
              <a:t>имя_процедуры</a:t>
            </a:r>
            <a:r>
              <a:rPr lang="ru-RU" sz="1600" dirty="0"/>
              <a:t>(параметры)</a:t>
            </a:r>
          </a:p>
          <a:p>
            <a:r>
              <a:rPr lang="en-US" sz="1600" dirty="0"/>
              <a:t>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-- </a:t>
            </a:r>
            <a:r>
              <a:rPr lang="ru-RU" sz="1600" dirty="0"/>
              <a:t>тело процедуры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  <a:endParaRPr lang="ru-RU" sz="1600" dirty="0"/>
          </a:p>
          <a:p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5725923" y="3027422"/>
            <a:ext cx="609460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процедуры для обновления имени клиента: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PROCEDURE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update_name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cus_id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INTEGER, 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new_name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varchar(50)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AS $$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UPDATE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test_sch.customers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SET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new_name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id =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cus_id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COMMIT;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3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Переменные и </a:t>
            </a:r>
            <a:r>
              <a:rPr lang="ru-RU" dirty="0">
                <a:solidFill>
                  <a:srgbClr val="FF0000"/>
                </a:solidFill>
              </a:rPr>
              <a:t>управляющие структуры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896690" cy="4191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Процедуры могут производить множество операций и потому имеют переменные и различные управляющие структуры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5745849" cy="4298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Переменные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 err="1"/>
              <a:t>Объявляются</a:t>
            </a:r>
            <a:r>
              <a:rPr lang="en-US" sz="1600" dirty="0"/>
              <a:t> в </a:t>
            </a:r>
            <a:r>
              <a:rPr lang="en-US" sz="1600" dirty="0" err="1"/>
              <a:t>секции</a:t>
            </a:r>
            <a:r>
              <a:rPr lang="en-US" sz="1600" dirty="0"/>
              <a:t> DECLARE:</a:t>
            </a:r>
          </a:p>
          <a:p>
            <a:r>
              <a:rPr lang="en-US" sz="1600" dirty="0"/>
              <a:t>DECLARE</a:t>
            </a:r>
          </a:p>
          <a:p>
            <a:r>
              <a:rPr lang="en-US" sz="1600" dirty="0"/>
              <a:t>    counter INTEGER := 0;</a:t>
            </a:r>
          </a:p>
          <a:p>
            <a:r>
              <a:rPr lang="en-US" sz="1600" dirty="0"/>
              <a:t>    name VARCHAR(50) := 'John';</a:t>
            </a:r>
          </a:p>
          <a:p>
            <a:r>
              <a:rPr lang="en-US" sz="1600" dirty="0"/>
              <a:t>    today DATE := CURRENT_DATE;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is_valid</a:t>
            </a:r>
            <a:r>
              <a:rPr lang="en-US" sz="1600" dirty="0"/>
              <a:t> BOOLEAN;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-- </a:t>
            </a:r>
            <a:r>
              <a:rPr lang="en-US" sz="1600" dirty="0" err="1"/>
              <a:t>использование</a:t>
            </a:r>
            <a:r>
              <a:rPr lang="en-US" sz="1600" dirty="0"/>
              <a:t> </a:t>
            </a:r>
            <a:r>
              <a:rPr lang="en-US" sz="1600" dirty="0" err="1"/>
              <a:t>переменных</a:t>
            </a:r>
            <a:endParaRPr lang="en-US" sz="1600" dirty="0"/>
          </a:p>
          <a:p>
            <a:r>
              <a:rPr lang="en-US" sz="1600" dirty="0"/>
              <a:t>END;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Условные конструкции</a:t>
            </a:r>
          </a:p>
          <a:p>
            <a:endParaRPr lang="ru-RU" sz="1600" dirty="0"/>
          </a:p>
          <a:p>
            <a:r>
              <a:rPr lang="ru-RU" sz="1600" dirty="0"/>
              <a:t>1. </a:t>
            </a:r>
            <a:r>
              <a:rPr lang="en-US" sz="1600" dirty="0"/>
              <a:t>IF-THEN-ELSE:</a:t>
            </a:r>
          </a:p>
          <a:p>
            <a:r>
              <a:rPr lang="en-US" sz="1600" dirty="0"/>
              <a:t>IF </a:t>
            </a:r>
            <a:r>
              <a:rPr lang="ru-RU" sz="1600" dirty="0"/>
              <a:t>условие </a:t>
            </a:r>
            <a:r>
              <a:rPr lang="en-US" sz="1600" dirty="0"/>
              <a:t>THEN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</a:t>
            </a:r>
          </a:p>
          <a:p>
            <a:r>
              <a:rPr lang="en-US" sz="1600" dirty="0"/>
              <a:t>ELSIF </a:t>
            </a:r>
            <a:r>
              <a:rPr lang="ru-RU" sz="1600" dirty="0" err="1"/>
              <a:t>другое_условие</a:t>
            </a:r>
            <a:r>
              <a:rPr lang="ru-RU" sz="1600" dirty="0"/>
              <a:t> </a:t>
            </a:r>
            <a:r>
              <a:rPr lang="en-US" sz="1600" dirty="0"/>
              <a:t>THEN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</a:t>
            </a:r>
          </a:p>
          <a:p>
            <a:r>
              <a:rPr lang="en-US" sz="1600" dirty="0"/>
              <a:t>ELSE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</a:t>
            </a:r>
          </a:p>
          <a:p>
            <a:r>
              <a:rPr lang="en-US" sz="1600" dirty="0"/>
              <a:t>END IF;</a:t>
            </a:r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4907560" y="2335696"/>
            <a:ext cx="70237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PROCEDURE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set_grade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(score INTEGER, subject Varchar(50),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INTEGER)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$$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DECLARE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grade VARCHAR(2);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IF score &gt;= 90 THEN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grade := 'A';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ELSIF score &gt;= 80 THEN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grade := 'B';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ELSIF score &gt;= 70 THEN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grade := 'C';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ELSE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grade := 'F';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 IF;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UPDATE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test_sch.grades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set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final_grade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grade where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student_id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74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Переменные и </a:t>
            </a:r>
            <a:r>
              <a:rPr lang="ru-RU" dirty="0">
                <a:solidFill>
                  <a:srgbClr val="FF0000"/>
                </a:solidFill>
              </a:rPr>
              <a:t>управляющие структуры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896690" cy="4191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Процедуры могут производить множество операций и потому имеют переменные и различные управляющие структуры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4386833" cy="4298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Циклы</a:t>
            </a:r>
          </a:p>
          <a:p>
            <a:endParaRPr lang="ru-RU" sz="1600" dirty="0"/>
          </a:p>
          <a:p>
            <a:r>
              <a:rPr lang="ru-RU" sz="1600" dirty="0"/>
              <a:t>1. </a:t>
            </a:r>
            <a:r>
              <a:rPr lang="en-US" sz="1600" dirty="0"/>
              <a:t>LOOP:</a:t>
            </a:r>
          </a:p>
          <a:p>
            <a:r>
              <a:rPr lang="en-US" sz="1600" dirty="0"/>
              <a:t>LOOP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</a:t>
            </a:r>
          </a:p>
          <a:p>
            <a:r>
              <a:rPr lang="ru-RU" sz="1600" dirty="0"/>
              <a:t>    </a:t>
            </a:r>
            <a:r>
              <a:rPr lang="en-US" sz="1600" dirty="0"/>
              <a:t>EXIT WHEN </a:t>
            </a:r>
            <a:r>
              <a:rPr lang="ru-RU" sz="1600" dirty="0"/>
              <a:t>условие;</a:t>
            </a:r>
          </a:p>
          <a:p>
            <a:r>
              <a:rPr lang="en-US" sz="1600" dirty="0"/>
              <a:t>END LOOP;</a:t>
            </a:r>
          </a:p>
          <a:p>
            <a:endParaRPr lang="en-US" sz="1600" dirty="0"/>
          </a:p>
          <a:p>
            <a:r>
              <a:rPr lang="en-US" sz="1600" dirty="0"/>
              <a:t>2. WHILE:</a:t>
            </a:r>
          </a:p>
          <a:p>
            <a:r>
              <a:rPr lang="en-US" sz="1600" dirty="0"/>
              <a:t>WHILE </a:t>
            </a:r>
            <a:r>
              <a:rPr lang="ru-RU" sz="1600" dirty="0"/>
              <a:t>условие </a:t>
            </a:r>
            <a:r>
              <a:rPr lang="en-US" sz="1600" dirty="0"/>
              <a:t>LOOP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</a:t>
            </a:r>
          </a:p>
          <a:p>
            <a:r>
              <a:rPr lang="en-US" sz="1600" dirty="0"/>
              <a:t>END LOOP;</a:t>
            </a:r>
          </a:p>
          <a:p>
            <a:endParaRPr lang="en-US" sz="1600" dirty="0"/>
          </a:p>
          <a:p>
            <a:r>
              <a:rPr lang="en-US" sz="1600" dirty="0"/>
              <a:t>3. FOR:</a:t>
            </a:r>
          </a:p>
          <a:p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1..10 LOOP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 (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ru-RU" sz="1600" dirty="0"/>
              <a:t>будет от 1 до 10)</a:t>
            </a:r>
          </a:p>
          <a:p>
            <a:r>
              <a:rPr lang="en-US" sz="1600" dirty="0"/>
              <a:t>END LOOP;</a:t>
            </a:r>
          </a:p>
          <a:p>
            <a:endParaRPr lang="en-US" sz="1600" dirty="0"/>
          </a:p>
          <a:p>
            <a:r>
              <a:rPr lang="en-US" sz="1600" dirty="0"/>
              <a:t>-- </a:t>
            </a:r>
            <a:r>
              <a:rPr lang="ru-RU" sz="1600" dirty="0"/>
              <a:t>Итерация по результатам запроса</a:t>
            </a:r>
          </a:p>
          <a:p>
            <a:r>
              <a:rPr lang="en-US" sz="1600" dirty="0"/>
              <a:t>FOR record IN SELECT * FROM employees LOOP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код, использующий </a:t>
            </a:r>
            <a:r>
              <a:rPr lang="en-US" sz="1600" dirty="0"/>
              <a:t>record</a:t>
            </a:r>
          </a:p>
          <a:p>
            <a:r>
              <a:rPr lang="en-US" sz="1600" dirty="0"/>
              <a:t>END LOOP;</a:t>
            </a:r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4907560" y="2335696"/>
            <a:ext cx="702377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PROCEDURE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generate_numbers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INTEGER,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INTEGER)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$$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DECLARE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EXIT WHEN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--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Вставляем число в таблицу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test_sch.numbers_table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(id) VALUES (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RAISE NOTICE '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Добавлено число: %',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current_num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+ 1;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 LOOP;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RAISE NOTICE '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завершена';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17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Переменные и </a:t>
            </a:r>
            <a:r>
              <a:rPr lang="ru-RU" dirty="0">
                <a:solidFill>
                  <a:srgbClr val="FF0000"/>
                </a:solidFill>
              </a:rPr>
              <a:t>управляющие структуры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896690" cy="41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Исключения и их обработка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4386833" cy="429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Синтаксис:</a:t>
            </a:r>
          </a:p>
          <a:p>
            <a:endParaRPr lang="ru-RU" sz="1600" dirty="0"/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-- </a:t>
            </a:r>
            <a:r>
              <a:rPr lang="ru-RU" sz="1600" dirty="0"/>
              <a:t>код, который может вызвать ошибку</a:t>
            </a:r>
          </a:p>
          <a:p>
            <a:r>
              <a:rPr lang="en-US" sz="1600" dirty="0"/>
              <a:t>EXCEPTION</a:t>
            </a:r>
          </a:p>
          <a:p>
            <a:r>
              <a:rPr lang="en-US" sz="1600" dirty="0"/>
              <a:t>    WHEN </a:t>
            </a:r>
            <a:r>
              <a:rPr lang="ru-RU" sz="1600" dirty="0" err="1"/>
              <a:t>тип_ошибки</a:t>
            </a:r>
            <a:r>
              <a:rPr lang="ru-RU" sz="1600" dirty="0"/>
              <a:t> </a:t>
            </a:r>
            <a:r>
              <a:rPr lang="en-US" sz="1600" dirty="0"/>
              <a:t>THEN</a:t>
            </a:r>
          </a:p>
          <a:p>
            <a:r>
              <a:rPr lang="en-US" sz="1600" dirty="0"/>
              <a:t>        -- </a:t>
            </a:r>
            <a:r>
              <a:rPr lang="ru-RU" sz="1600" dirty="0"/>
              <a:t>обработка ошибки</a:t>
            </a:r>
          </a:p>
          <a:p>
            <a:r>
              <a:rPr lang="en-US" sz="1600" dirty="0"/>
              <a:t>END;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Основные типы ошибок:</a:t>
            </a:r>
          </a:p>
          <a:p>
            <a:r>
              <a:rPr lang="ru-RU" sz="1600" dirty="0"/>
              <a:t>- </a:t>
            </a:r>
            <a:r>
              <a:rPr lang="en-US" sz="1600" dirty="0"/>
              <a:t>NO_DATA_FOUND</a:t>
            </a:r>
          </a:p>
          <a:p>
            <a:r>
              <a:rPr lang="en-US" sz="1600" dirty="0"/>
              <a:t>- TOO_MANY_ROWS</a:t>
            </a:r>
          </a:p>
          <a:p>
            <a:r>
              <a:rPr lang="en-US" sz="1600" dirty="0"/>
              <a:t>- DIVISION_BY_ZERO</a:t>
            </a:r>
          </a:p>
          <a:p>
            <a:r>
              <a:rPr lang="en-US" sz="1600" dirty="0"/>
              <a:t>- OTHERS (</a:t>
            </a:r>
            <a:r>
              <a:rPr lang="ru-RU" sz="1600" dirty="0"/>
              <a:t>любая ошибка)</a:t>
            </a:r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4907560" y="2216401"/>
            <a:ext cx="70237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PROCEDURE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transfer_funds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from_account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INTEGER,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to_account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INTEGER,  amount NUMERIC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$$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UPDATE accounts SET balance = balance - amount WHERE id =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from_account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UPDATE accounts SET balance = balance + amount WHERE id =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to_account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COMMIT;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EXCEPTION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WHEN OTHERS THEN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ROLLBACK;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RAISE EXCEPTION '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Ошибка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перевода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%', SQLERRM;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81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703</Words>
  <Application>Microsoft Office PowerPoint</Application>
  <PresentationFormat>Широкоэкранный</PresentationFormat>
  <Paragraphs>145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90</cp:revision>
  <dcterms:created xsi:type="dcterms:W3CDTF">2025-08-19T06:56:36Z</dcterms:created>
  <dcterms:modified xsi:type="dcterms:W3CDTF">2025-11-05T11:53:06Z</dcterms:modified>
</cp:coreProperties>
</file>